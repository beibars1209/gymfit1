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699545"/>
            <a:ext cx="5715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09600" y="2120354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 ПРОЕКТА • GYMFIT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444204"/>
            <a:ext cx="8101012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Твоя лучшая форма начинается здесь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3861345"/>
            <a:ext cx="5810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Современное оборудование, профессиональные тренеры и индивидуальный подход к каждому клиенту.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609600" y="2904232"/>
            <a:ext cx="3505200" cy="2097137"/>
          </a:xfrm>
          <a:prstGeom prst="roundRect">
            <a:avLst>
              <a:gd fmla="val 54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343400" y="2904232"/>
            <a:ext cx="3505200" cy="2097137"/>
          </a:xfrm>
          <a:prstGeom prst="roundRect">
            <a:avLst>
              <a:gd fmla="val 54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077200" y="2904232"/>
            <a:ext cx="3505200" cy="2097137"/>
          </a:xfrm>
          <a:prstGeom prst="roundRect">
            <a:avLst>
              <a:gd fmla="val 54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24713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324713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3247132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609600" y="1856482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АКТУАЛЬНОСТЬ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09600" y="2104132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Здоровый образ жизни как тренд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23925" y="3742432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Рост спроса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23925" y="4047232"/>
            <a:ext cx="29718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Увеличение числа людей, выбирающих спорт и регулярную физическую активность.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57725" y="3742432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Дефицит времени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57725" y="4047232"/>
            <a:ext cx="29718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Потребность в удобных локациях с полным комплексом услуг в одном месте.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91525" y="3742432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Качество сервиса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391525" y="4047232"/>
            <a:ext cx="29718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Запрос клиентов на современные тренажеры и квалифицированное сопровождение.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609600" y="3100387"/>
            <a:ext cx="10972800" cy="1704975"/>
          </a:xfrm>
          <a:prstGeom prst="roundRect">
            <a:avLst>
              <a:gd fmla="val 670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09600" y="3100387"/>
            <a:ext cx="57150" cy="17049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609600" y="2052637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МИССИЯ И ЦЕЛИ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09600" y="2300287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Главная цель проекта GymFit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47750" y="3481387"/>
            <a:ext cx="11144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пространства для побед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47750" y="3910012"/>
            <a:ext cx="102489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Предоставить доступ к премиальной фитнес-инфраструктуре, сделать тренировки эффективными, безопасными и доступными для каждого жителя города.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/>
        </p:nvSpPr>
        <p:spPr>
          <a:xfrm>
            <a:off x="609600" y="2904232"/>
            <a:ext cx="3505200" cy="2097137"/>
          </a:xfrm>
          <a:prstGeom prst="roundRect">
            <a:avLst>
              <a:gd fmla="val 54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4343400" y="2904232"/>
            <a:ext cx="3505200" cy="2097137"/>
          </a:xfrm>
          <a:prstGeom prst="roundRect">
            <a:avLst>
              <a:gd fmla="val 545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8077200" y="3010792"/>
            <a:ext cx="3505200" cy="1883866"/>
          </a:xfrm>
          <a:prstGeom prst="roundRect">
            <a:avLst>
              <a:gd fmla="val 606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24713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324713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335369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609600" y="1856482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ПРЕИМУЩЕСТВА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09600" y="2104132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Почему выбирают нас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23925" y="3742432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Современный зал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23925" y="4047232"/>
            <a:ext cx="29718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Новейшие тренажеры и просторные зоны для всех видов тренировок.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57725" y="3742432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Опытные тренеры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57725" y="4047232"/>
            <a:ext cx="29718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Профессиональные инструкторы помогут достичь ваших целей безопасно.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391525" y="3848992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Индивидуальный подход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91525" y="4153792"/>
            <a:ext cx="29718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Программы тренировок и питания под ваши личные задачи.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609600" y="3067942"/>
            <a:ext cx="3505200" cy="1769566"/>
          </a:xfrm>
          <a:prstGeom prst="roundRect">
            <a:avLst>
              <a:gd fmla="val 64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4343400" y="2961382"/>
            <a:ext cx="3505200" cy="1982837"/>
          </a:xfrm>
          <a:prstGeom prst="roundRect">
            <a:avLst>
              <a:gd fmla="val 576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8077200" y="2961382"/>
            <a:ext cx="3505200" cy="1982837"/>
          </a:xfrm>
          <a:prstGeom prst="roundRect">
            <a:avLst>
              <a:gd fmla="val 576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609600" y="1913632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ТРЕНИРОВКИ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09600" y="2161282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Наши направления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14400" y="3687067"/>
            <a:ext cx="2990850" cy="8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Подробнее →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648200" y="3580507"/>
            <a:ext cx="2990850" cy="105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Подробнее →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382000" y="3580507"/>
            <a:ext cx="2990850" cy="105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Подробнее →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23925" y="3382267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Силовые тренировки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23925" y="3725167"/>
            <a:ext cx="297180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силы, выносливости и набора мышечной массы.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657725" y="3275707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Кардиотренировки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4657725" y="3618607"/>
            <a:ext cx="29718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Улучшение выносливости и поддержка сердечно-сосудистой системы.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391525" y="3275707"/>
            <a:ext cx="377547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Функциональные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391525" y="3618607"/>
            <a:ext cx="29718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Комплекс упражнений для развития силы, координации и баланса.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32241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59670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487099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609600" y="13335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ИНФРАСТРУКТУРА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09600" y="15811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Тренажерный зал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09600" y="2712839"/>
            <a:ext cx="539115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Просторная зона с современным силовым и кардиооборудованием от ведущих мировых брендов. Каждое рабочее место продумано для максимального комфорта и безопасности во время выполнения упражнений.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09600" y="4274790"/>
            <a:ext cx="661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Свободные веса и гантельный ряд до 50 кг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09600" y="4549080"/>
            <a:ext cx="661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Профессиональные кардиотренажеры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09600" y="4823370"/>
            <a:ext cx="661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кондиционирования и вентиляции</a:t>
            </a:r>
            <a:endParaRPr/>
          </a:p>
        </p:txBody>
      </p:sp>
      <p:pic>
        <p:nvPicPr>
          <p:cNvPr id="165" name="Google Shape;165;p18" title="images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8875" y="1876425"/>
            <a:ext cx="4657724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40481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432241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0" y="459670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609600" y="13335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ИНФРАСТРУКТУРА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09600" y="15811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Бассейн и Аквазона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286500" y="2987129"/>
            <a:ext cx="53911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25-метровый бассейн для плавания, аквааэробики и свободного отдыха. Многоуровневая система очистки воды без резкого запаха хлора.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286500" y="4000500"/>
            <a:ext cx="5905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4 плавательные дорожки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6286500" y="4274790"/>
            <a:ext cx="5905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Занятия аквааэробикой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286500" y="4549080"/>
            <a:ext cx="59055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Зона отдыха с шезлонгами</a:t>
            </a:r>
            <a:endParaRPr/>
          </a:p>
        </p:txBody>
      </p:sp>
      <p:pic>
        <p:nvPicPr>
          <p:cNvPr id="179" name="Google Shape;179;p19" title="1 1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75" y="2367250"/>
            <a:ext cx="5271225" cy="35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title="IMG_0315_1.jpg"/>
          <p:cNvPicPr preferRelativeResize="0"/>
          <p:nvPr/>
        </p:nvPicPr>
        <p:blipFill rotWithShape="1">
          <a:blip r:embed="rId3">
            <a:alphaModFix/>
          </a:blip>
          <a:srcRect b="9238" l="0" r="0" t="9230"/>
          <a:stretch/>
        </p:blipFill>
        <p:spPr>
          <a:xfrm>
            <a:off x="6286500" y="2286000"/>
            <a:ext cx="5295902" cy="3238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0481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32241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59670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609600" y="13335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ИНФРАСТРУКТУРА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09600" y="158115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Финская баня и СПА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09600" y="2987129"/>
            <a:ext cx="53911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Идеальное место для расслабления и восстановления сил после интенсивных тренировок. Помогает снять мышечное напряжение и улучшить кровообращение.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09600" y="4000500"/>
            <a:ext cx="661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Традиционная финская сауна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09600" y="4274790"/>
            <a:ext cx="661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Зона релаксации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09600" y="4549080"/>
            <a:ext cx="66198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Снижение стресса и усталости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609600" y="2828925"/>
            <a:ext cx="3505200" cy="2247900"/>
          </a:xfrm>
          <a:prstGeom prst="roundRect">
            <a:avLst>
              <a:gd fmla="val 50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343400" y="2828925"/>
            <a:ext cx="3505200" cy="2247900"/>
          </a:xfrm>
          <a:prstGeom prst="roundRect">
            <a:avLst>
              <a:gd fmla="val 50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8077200" y="2743200"/>
            <a:ext cx="3505200" cy="2419350"/>
          </a:xfrm>
          <a:prstGeom prst="roundRect">
            <a:avLst>
              <a:gd fmla="val 472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1" title="sprt.jpg"/>
          <p:cNvPicPr preferRelativeResize="0"/>
          <p:nvPr/>
        </p:nvPicPr>
        <p:blipFill rotWithShape="1">
          <a:blip r:embed="rId3">
            <a:alphaModFix/>
          </a:blip>
          <a:srcRect b="0" l="13768" r="13768" t="0"/>
          <a:stretch/>
        </p:blipFill>
        <p:spPr>
          <a:xfrm>
            <a:off x="1885950" y="30670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title="images.jpg"/>
          <p:cNvPicPr preferRelativeResize="0"/>
          <p:nvPr/>
        </p:nvPicPr>
        <p:blipFill rotWithShape="1">
          <a:blip r:embed="rId4">
            <a:alphaModFix/>
          </a:blip>
          <a:srcRect b="16667" l="0" r="0" t="16667"/>
          <a:stretch/>
        </p:blipFill>
        <p:spPr>
          <a:xfrm>
            <a:off x="5619750" y="30670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title="usluggi-69.jpg.jpg"/>
          <p:cNvPicPr preferRelativeResize="0"/>
          <p:nvPr/>
        </p:nvPicPr>
        <p:blipFill rotWithShape="1">
          <a:blip r:embed="rId5">
            <a:alphaModFix/>
          </a:blip>
          <a:srcRect b="0" l="12815" r="12808" t="0"/>
          <a:stretch/>
        </p:blipFill>
        <p:spPr>
          <a:xfrm>
            <a:off x="9353550" y="298132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609600" y="16954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КОМАНДА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09600" y="19431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Наши профессиональные тренеры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374451" y="4171950"/>
            <a:ext cx="39754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Алексей Смирнов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69106" y="4419600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Главный тренер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469106" y="4667250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Силовой тренинг и набор массы.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108251" y="4171950"/>
            <a:ext cx="39754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Мария Иванова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202906" y="4419600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Инструктор групповых программ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202906" y="4667250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Кардио и функциональный тренинг.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7842051" y="4086225"/>
            <a:ext cx="3975496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Дмитрий Ковалев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936706" y="4333875"/>
            <a:ext cx="3786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Фитнес-инструктор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936706" y="4581525"/>
            <a:ext cx="37861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Персональные тренировки и реабилитация.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/>
          <p:nvPr/>
        </p:nvSpPr>
        <p:spPr>
          <a:xfrm>
            <a:off x="609600" y="3095625"/>
            <a:ext cx="3505200" cy="1714500"/>
          </a:xfrm>
          <a:prstGeom prst="roundRect">
            <a:avLst>
              <a:gd fmla="val 66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4343400" y="3095625"/>
            <a:ext cx="3505200" cy="1714500"/>
          </a:xfrm>
          <a:prstGeom prst="roundRect">
            <a:avLst>
              <a:gd fmla="val 66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8077200" y="3009900"/>
            <a:ext cx="3505200" cy="1885950"/>
          </a:xfrm>
          <a:prstGeom prst="roundRect">
            <a:avLst>
              <a:gd fmla="val 60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609600" y="196215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ЭФФЕКТЫ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09600" y="22098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Ожидаемые результаты проекта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64356" y="3409950"/>
            <a:ext cx="359568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1500+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474464" y="4038600"/>
            <a:ext cx="377547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Активных клиентов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64356" y="4324350"/>
            <a:ext cx="3595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Регулярно посещающих комплекс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4298156" y="3409950"/>
            <a:ext cx="359568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98%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208264" y="4038600"/>
            <a:ext cx="377547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Довольных гостей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4298156" y="4324350"/>
            <a:ext cx="3595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Высокий уровень сервиса и комфорта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8031956" y="3324225"/>
            <a:ext cx="359568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24/7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7942064" y="3952875"/>
            <a:ext cx="377547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Развитие сообщества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031956" y="4238625"/>
            <a:ext cx="35956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Популяризация здорового образа жизни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/>
          <p:nvPr/>
        </p:nvSpPr>
        <p:spPr>
          <a:xfrm>
            <a:off x="609600" y="2814637"/>
            <a:ext cx="3498800" cy="2276475"/>
          </a:xfrm>
          <a:prstGeom prst="roundRect">
            <a:avLst>
              <a:gd fmla="val 50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4337000" y="2805112"/>
            <a:ext cx="3517850" cy="2295525"/>
          </a:xfrm>
          <a:prstGeom prst="roundRect">
            <a:avLst>
              <a:gd fmla="val 4979" name="adj"/>
            </a:avLst>
          </a:prstGeom>
          <a:solidFill>
            <a:srgbClr val="F8FAFC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8083450" y="2814637"/>
            <a:ext cx="3498800" cy="2276475"/>
          </a:xfrm>
          <a:prstGeom prst="roundRect">
            <a:avLst>
              <a:gd fmla="val 50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6511825" y="2709862"/>
            <a:ext cx="1133475" cy="219075"/>
          </a:xfrm>
          <a:prstGeom prst="roundRect">
            <a:avLst>
              <a:gd fmla="val 17391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-381000" y="1757362"/>
            <a:ext cx="12954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ТАРИФЫ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-381000" y="2005012"/>
            <a:ext cx="12954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Выберите свой абонемент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885825" y="3090862"/>
            <a:ext cx="38670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Базовый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885825" y="3395662"/>
            <a:ext cx="36829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25 990 ₸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85825" y="3757612"/>
            <a:ext cx="3682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в месяц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85825" y="4119562"/>
            <a:ext cx="3682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Доступ в тренажерный зал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885825" y="4376737"/>
            <a:ext cx="3682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Безлимитное время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885825" y="4633912"/>
            <a:ext cx="3682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Раздевалка и душ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607075" y="2747962"/>
            <a:ext cx="10382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ПОПУЛЯРНЫЙ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622750" y="3090862"/>
            <a:ext cx="38670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Стандарт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4622750" y="3395662"/>
            <a:ext cx="36829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45 990 ₸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622750" y="3757612"/>
            <a:ext cx="3682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в месяц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622750" y="4119562"/>
            <a:ext cx="3682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Доступ во все зоны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4622750" y="4376737"/>
            <a:ext cx="3682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Групповые занятия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4622750" y="4633912"/>
            <a:ext cx="3682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Вводная тренировка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8359675" y="3090862"/>
            <a:ext cx="38323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Премиум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8359675" y="3395662"/>
            <a:ext cx="36829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70 990 ₸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8359675" y="3757612"/>
            <a:ext cx="36829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в месяц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359675" y="4119562"/>
            <a:ext cx="3682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Все опции стандарта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8359675" y="4376737"/>
            <a:ext cx="3682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Персональный тренер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8359675" y="4633912"/>
            <a:ext cx="3682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rPr>
              <a:t>• Доступ в фитнес-бар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/>
          <p:nvPr/>
        </p:nvSpPr>
        <p:spPr>
          <a:xfrm>
            <a:off x="5810250" y="4581525"/>
            <a:ext cx="5715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470796" y="2238375"/>
            <a:ext cx="325040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rPr>
              <a:t>GYMFIT • ПРИСОЕДИНЯЙТЕСЬ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1095375" y="2562225"/>
            <a:ext cx="100012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Начните свой путь к здоровью уже сегодня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2524125" y="3857625"/>
            <a:ext cx="7143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Ждем вас по адресу: ул. Спортивная, 10. Телефон для справок: +7 (777) 000-00-00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